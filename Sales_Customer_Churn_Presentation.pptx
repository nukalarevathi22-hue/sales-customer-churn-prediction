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E8D6F7"/>
          </a:solidFill>
          <a:ln>
            <a:solidFill>
              <a:srgbClr val="85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5303520"/>
            <a:ext cx="3291840" cy="3291840"/>
          </a:xfrm>
          <a:prstGeom prst="ellipse">
            <a:avLst/>
          </a:prstGeom>
          <a:solidFill>
            <a:srgbClr val="E8D6F7"/>
          </a:solidFill>
          <a:ln>
            <a:solidFill>
              <a:srgbClr val="85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7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4241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8FC"/>
                </a:solidFill>
              </a:defRPr>
            </a:pPr>
            <a:r>
              <a:rPr>
                <a:solidFill>
                  <a:srgbClr val="37204B"/>
                </a:solidFill>
              </a:rPr>
              <a:t>SALES CUSTOMER CHURN</a:t>
            </a:r>
          </a:p>
          <a:p>
            <a:pPr>
              <a:defRPr sz="3400" b="1">
                <a:solidFill>
                  <a:srgbClr val="36B8D2"/>
                </a:solidFill>
              </a:defRPr>
            </a:pPr>
            <a:r>
              <a:rPr>
                <a:solidFill>
                  <a:srgbClr val="37204B"/>
                </a:solidFill>
              </a:rPr>
              <a:t>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33375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7E1EE"/>
                </a:solidFill>
              </a:defRPr>
            </a:pPr>
            <a:r>
              <a:rPr>
                <a:solidFill>
                  <a:srgbClr val="37204B"/>
                </a:solidFill>
              </a:rPr>
              <a:t>Machine Learning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2823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6B5C9"/>
                </a:solidFill>
              </a:defRPr>
            </a:pPr>
            <a:r>
              <a:rPr>
                <a:solidFill>
                  <a:srgbClr val="37204B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E8D6F7"/>
          </a:solidFill>
          <a:ln>
            <a:solidFill>
              <a:srgbClr val="85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5303520"/>
            <a:ext cx="3291840" cy="3291840"/>
          </a:xfrm>
          <a:prstGeom prst="ellipse">
            <a:avLst/>
          </a:prstGeom>
          <a:solidFill>
            <a:srgbClr val="E8D6F7"/>
          </a:solidFill>
          <a:ln>
            <a:solidFill>
              <a:srgbClr val="85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7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rPr>
                <a:solidFill>
                  <a:srgbClr val="37204B"/>
                </a:solidFill>
              </a:rP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>
                <a:solidFill>
                  <a:srgbClr val="37204B"/>
                </a:solidFill>
              </a:rPr>
              <a:t>• Customer churn can affect revenue and long-term business growth.</a:t>
            </a:r>
          </a:p>
          <a:p>
            <a:pPr>
              <a:spcAft>
                <a:spcPts val="14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>
                <a:solidFill>
                  <a:srgbClr val="37204B"/>
                </a:solidFill>
              </a:rPr>
              <a:t>• This project uses customer and service-related data to analyze churn patterns.</a:t>
            </a:r>
          </a:p>
          <a:p>
            <a:pPr>
              <a:spcAft>
                <a:spcPts val="14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>
                <a:solidFill>
                  <a:srgbClr val="37204B"/>
                </a:solidFill>
              </a:rPr>
              <a:t>• A Machine Learning classification approach is used to predict churn.</a:t>
            </a:r>
          </a:p>
          <a:p>
            <a:pPr>
              <a:spcAft>
                <a:spcPts val="14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>
                <a:solidFill>
                  <a:srgbClr val="37204B"/>
                </a:solidFill>
              </a:rPr>
              <a:t>• The project also examines feature importance to understand factors associated with churn.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2823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6B5C9"/>
                </a:solidFill>
              </a:defRPr>
            </a:pPr>
            <a:r>
              <a:rPr>
                <a:solidFill>
                  <a:srgbClr val="37204B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E8D6F7"/>
          </a:solidFill>
          <a:ln>
            <a:solidFill>
              <a:srgbClr val="85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5303520"/>
            <a:ext cx="3291840" cy="3291840"/>
          </a:xfrm>
          <a:prstGeom prst="ellipse">
            <a:avLst/>
          </a:prstGeom>
          <a:solidFill>
            <a:srgbClr val="E8D6F7"/>
          </a:solidFill>
          <a:ln>
            <a:solidFill>
              <a:srgbClr val="85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7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rPr>
                <a:solidFill>
                  <a:srgbClr val="37204B"/>
                </a:solidFill>
              </a:rPr>
              <a:t>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337560" cy="1645920"/>
          </a:xfrm>
          <a:prstGeom prst="roundRect">
            <a:avLst/>
          </a:prstGeom>
          <a:solidFill>
            <a:srgbClr val="E8D6F7"/>
          </a:solidFill>
          <a:ln>
            <a:solidFill>
              <a:srgbClr val="85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00200"/>
            <a:ext cx="73152" cy="1645920"/>
          </a:xfrm>
          <a:prstGeom prst="rect">
            <a:avLst/>
          </a:prstGeom>
          <a:solidFill>
            <a:srgbClr val="56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64792"/>
            <a:ext cx="2926079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C"/>
                </a:solidFill>
              </a:defRPr>
            </a:pPr>
            <a:r>
              <a:rPr>
                <a:solidFill>
                  <a:srgbClr val="37204B"/>
                </a:solidFill>
              </a:rPr>
              <a:t>Analyze</a:t>
            </a:r>
          </a:p>
          <a:p>
            <a:pPr>
              <a:spcBef>
                <a:spcPts val="800"/>
              </a:spcBef>
              <a:defRPr sz="1200">
                <a:solidFill>
                  <a:srgbClr val="D7E1EE"/>
                </a:solidFill>
              </a:defRPr>
            </a:pPr>
            <a:r>
              <a:rPr>
                <a:solidFill>
                  <a:srgbClr val="37204B"/>
                </a:solidFill>
              </a:rPr>
              <a:t>Identify patterns related to customer churn.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337560" cy="1645920"/>
          </a:xfrm>
          <a:prstGeom prst="roundRect">
            <a:avLst/>
          </a:prstGeom>
          <a:solidFill>
            <a:srgbClr val="E8D6F7"/>
          </a:solidFill>
          <a:ln>
            <a:solidFill>
              <a:srgbClr val="85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600200"/>
            <a:ext cx="73152" cy="1645920"/>
          </a:xfrm>
          <a:prstGeom prst="rect">
            <a:avLst/>
          </a:prstGeom>
          <a:solidFill>
            <a:srgbClr val="56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764792"/>
            <a:ext cx="2926079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C"/>
                </a:solidFill>
              </a:defRPr>
            </a:pPr>
            <a:r>
              <a:rPr>
                <a:solidFill>
                  <a:srgbClr val="37204B"/>
                </a:solidFill>
              </a:rPr>
              <a:t>Prepare</a:t>
            </a:r>
          </a:p>
          <a:p>
            <a:pPr>
              <a:spcBef>
                <a:spcPts val="800"/>
              </a:spcBef>
              <a:defRPr sz="1200">
                <a:solidFill>
                  <a:srgbClr val="D7E1EE"/>
                </a:solidFill>
              </a:defRPr>
            </a:pPr>
            <a:r>
              <a:rPr>
                <a:solidFill>
                  <a:srgbClr val="37204B"/>
                </a:solidFill>
              </a:rPr>
              <a:t>Clean and prepare data for Machine Learning.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00200"/>
            <a:ext cx="3337560" cy="1645920"/>
          </a:xfrm>
          <a:prstGeom prst="roundRect">
            <a:avLst/>
          </a:prstGeom>
          <a:solidFill>
            <a:srgbClr val="E8D6F7"/>
          </a:solidFill>
          <a:ln>
            <a:solidFill>
              <a:srgbClr val="85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75320" y="1600200"/>
            <a:ext cx="73152" cy="1645920"/>
          </a:xfrm>
          <a:prstGeom prst="rect">
            <a:avLst/>
          </a:prstGeom>
          <a:solidFill>
            <a:srgbClr val="56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764792"/>
            <a:ext cx="2926079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C"/>
                </a:solidFill>
              </a:defRPr>
            </a:pPr>
            <a:r>
              <a:rPr>
                <a:solidFill>
                  <a:srgbClr val="37204B"/>
                </a:solidFill>
              </a:rPr>
              <a:t>Build</a:t>
            </a:r>
          </a:p>
          <a:p>
            <a:pPr>
              <a:spcBef>
                <a:spcPts val="800"/>
              </a:spcBef>
              <a:defRPr sz="1200">
                <a:solidFill>
                  <a:srgbClr val="D7E1EE"/>
                </a:solidFill>
              </a:defRPr>
            </a:pPr>
            <a:r>
              <a:rPr>
                <a:solidFill>
                  <a:srgbClr val="37204B"/>
                </a:solidFill>
              </a:rPr>
              <a:t>Develop a classification model for churn prediction.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749039"/>
            <a:ext cx="3337560" cy="1645920"/>
          </a:xfrm>
          <a:prstGeom prst="roundRect">
            <a:avLst/>
          </a:prstGeom>
          <a:solidFill>
            <a:srgbClr val="E8D6F7"/>
          </a:solidFill>
          <a:ln>
            <a:solidFill>
              <a:srgbClr val="85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749039"/>
            <a:ext cx="73152" cy="1645920"/>
          </a:xfrm>
          <a:prstGeom prst="rect">
            <a:avLst/>
          </a:prstGeom>
          <a:solidFill>
            <a:srgbClr val="56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913631"/>
            <a:ext cx="2926079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C"/>
                </a:solidFill>
              </a:defRPr>
            </a:pPr>
            <a:r>
              <a:rPr>
                <a:solidFill>
                  <a:srgbClr val="37204B"/>
                </a:solidFill>
              </a:rPr>
              <a:t>Evaluate</a:t>
            </a:r>
          </a:p>
          <a:p>
            <a:pPr>
              <a:spcBef>
                <a:spcPts val="800"/>
              </a:spcBef>
              <a:defRPr sz="1200">
                <a:solidFill>
                  <a:srgbClr val="D7E1EE"/>
                </a:solidFill>
              </a:defRPr>
            </a:pPr>
            <a:r>
              <a:rPr>
                <a:solidFill>
                  <a:srgbClr val="37204B"/>
                </a:solidFill>
              </a:rPr>
              <a:t>Measure model performance using classification metrics.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3749039"/>
            <a:ext cx="3337560" cy="1645920"/>
          </a:xfrm>
          <a:prstGeom prst="roundRect">
            <a:avLst/>
          </a:prstGeom>
          <a:solidFill>
            <a:srgbClr val="E8D6F7"/>
          </a:solidFill>
          <a:ln>
            <a:solidFill>
              <a:srgbClr val="85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60" y="3749039"/>
            <a:ext cx="73152" cy="1645920"/>
          </a:xfrm>
          <a:prstGeom prst="rect">
            <a:avLst/>
          </a:prstGeom>
          <a:solidFill>
            <a:srgbClr val="56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60" y="3913631"/>
            <a:ext cx="2926079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C"/>
                </a:solidFill>
              </a:defRPr>
            </a:pPr>
            <a:r>
              <a:rPr>
                <a:solidFill>
                  <a:srgbClr val="37204B"/>
                </a:solidFill>
              </a:rPr>
              <a:t>Explain</a:t>
            </a:r>
          </a:p>
          <a:p>
            <a:pPr>
              <a:spcBef>
                <a:spcPts val="800"/>
              </a:spcBef>
              <a:defRPr sz="1200">
                <a:solidFill>
                  <a:srgbClr val="D7E1EE"/>
                </a:solidFill>
              </a:defRPr>
            </a:pPr>
            <a:r>
              <a:rPr>
                <a:solidFill>
                  <a:srgbClr val="37204B"/>
                </a:solidFill>
              </a:rPr>
              <a:t>Analyze feature importance.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3749039"/>
            <a:ext cx="3337560" cy="1645920"/>
          </a:xfrm>
          <a:prstGeom prst="roundRect">
            <a:avLst/>
          </a:prstGeom>
          <a:solidFill>
            <a:srgbClr val="E8D6F7"/>
          </a:solidFill>
          <a:ln>
            <a:solidFill>
              <a:srgbClr val="85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75320" y="3749039"/>
            <a:ext cx="73152" cy="1645920"/>
          </a:xfrm>
          <a:prstGeom prst="rect">
            <a:avLst/>
          </a:prstGeom>
          <a:solidFill>
            <a:srgbClr val="56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3913631"/>
            <a:ext cx="2926079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C"/>
                </a:solidFill>
              </a:defRPr>
            </a:pPr>
            <a:r>
              <a:rPr>
                <a:solidFill>
                  <a:srgbClr val="37204B"/>
                </a:solidFill>
              </a:rPr>
              <a:t>Predict</a:t>
            </a:r>
          </a:p>
          <a:p>
            <a:pPr>
              <a:spcBef>
                <a:spcPts val="800"/>
              </a:spcBef>
              <a:defRPr sz="1200">
                <a:solidFill>
                  <a:srgbClr val="D7E1EE"/>
                </a:solidFill>
              </a:defRPr>
            </a:pPr>
            <a:r>
              <a:rPr>
                <a:solidFill>
                  <a:srgbClr val="37204B"/>
                </a:solidFill>
              </a:rPr>
              <a:t>Generate predictions for new customer records.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2823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6B5C9"/>
                </a:solidFill>
              </a:defRPr>
            </a:pPr>
            <a:r>
              <a:rPr>
                <a:solidFill>
                  <a:srgbClr val="37204B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E8D6F7"/>
          </a:solidFill>
          <a:ln>
            <a:solidFill>
              <a:srgbClr val="85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5303520"/>
            <a:ext cx="3291840" cy="3291840"/>
          </a:xfrm>
          <a:prstGeom prst="ellipse">
            <a:avLst/>
          </a:prstGeom>
          <a:solidFill>
            <a:srgbClr val="E8D6F7"/>
          </a:solidFill>
          <a:ln>
            <a:solidFill>
              <a:srgbClr val="85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7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rPr>
                <a:solidFill>
                  <a:srgbClr val="37204B"/>
                </a:solidFill>
              </a:rPr>
              <a:t>Dataset &amp; Features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383280" cy="4114800"/>
          </a:xfrm>
          <a:prstGeom prst="roundRect">
            <a:avLst/>
          </a:prstGeom>
          <a:solidFill>
            <a:srgbClr val="E8D6F7"/>
          </a:solidFill>
          <a:ln>
            <a:solidFill>
              <a:srgbClr val="85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73152" cy="4114800"/>
          </a:xfrm>
          <a:prstGeom prst="rect">
            <a:avLst/>
          </a:prstGeom>
          <a:solidFill>
            <a:srgbClr val="216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64792"/>
            <a:ext cx="29718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C"/>
                </a:solidFill>
              </a:defRPr>
            </a:pPr>
            <a:r>
              <a:rPr>
                <a:solidFill>
                  <a:srgbClr val="37204B"/>
                </a:solidFill>
              </a:rPr>
              <a:t>Customer Information</a:t>
            </a:r>
          </a:p>
          <a:p>
            <a:pPr>
              <a:spcBef>
                <a:spcPts val="800"/>
              </a:spcBef>
              <a:defRPr sz="1200">
                <a:solidFill>
                  <a:srgbClr val="D7E1EE"/>
                </a:solidFill>
              </a:defRPr>
            </a:pPr>
            <a:r>
              <a:rPr>
                <a:solidFill>
                  <a:srgbClr val="37204B"/>
                </a:solidFill>
              </a:rPr>
              <a:t>CustomerID</a:t>
            </a:r>
            <a:br/>
            <a:r>
              <a:rPr>
                <a:solidFill>
                  <a:srgbClr val="37204B"/>
                </a:solidFill>
              </a:rPr>
              <a:t>Tenure_Months</a:t>
            </a:r>
            <a:br/>
            <a:r>
              <a:rPr>
                <a:solidFill>
                  <a:srgbClr val="37204B"/>
                </a:solidFill>
              </a:rPr>
              <a:t>Monthly_Charges</a:t>
            </a:r>
            <a:br/>
            <a:r>
              <a:rPr>
                <a:solidFill>
                  <a:srgbClr val="37204B"/>
                </a:solidFill>
              </a:rPr>
              <a:t>Total_Charges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00200"/>
            <a:ext cx="3383280" cy="4114800"/>
          </a:xfrm>
          <a:prstGeom prst="roundRect">
            <a:avLst/>
          </a:prstGeom>
          <a:solidFill>
            <a:srgbClr val="E8D6F7"/>
          </a:solidFill>
          <a:ln>
            <a:solidFill>
              <a:srgbClr val="85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600200"/>
            <a:ext cx="73152" cy="4114800"/>
          </a:xfrm>
          <a:prstGeom prst="rect">
            <a:avLst/>
          </a:prstGeom>
          <a:solidFill>
            <a:srgbClr val="56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764792"/>
            <a:ext cx="29718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C"/>
                </a:solidFill>
              </a:defRPr>
            </a:pPr>
            <a:r>
              <a:rPr>
                <a:solidFill>
                  <a:srgbClr val="37204B"/>
                </a:solidFill>
              </a:rPr>
              <a:t>Service Information</a:t>
            </a:r>
          </a:p>
          <a:p>
            <a:pPr>
              <a:spcBef>
                <a:spcPts val="800"/>
              </a:spcBef>
              <a:defRPr sz="1200">
                <a:solidFill>
                  <a:srgbClr val="D7E1EE"/>
                </a:solidFill>
              </a:defRPr>
            </a:pPr>
            <a:r>
              <a:rPr>
                <a:solidFill>
                  <a:srgbClr val="37204B"/>
                </a:solidFill>
              </a:rPr>
              <a:t>Contract_Type</a:t>
            </a:r>
            <a:br/>
            <a:r>
              <a:rPr>
                <a:solidFill>
                  <a:srgbClr val="37204B"/>
                </a:solidFill>
              </a:rPr>
              <a:t>Internet_Service</a:t>
            </a:r>
            <a:br/>
            <a:r>
              <a:rPr>
                <a:solidFill>
                  <a:srgbClr val="37204B"/>
                </a:solidFill>
              </a:rPr>
              <a:t>Payment_Method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600200"/>
            <a:ext cx="3383280" cy="4114800"/>
          </a:xfrm>
          <a:prstGeom prst="roundRect">
            <a:avLst/>
          </a:prstGeom>
          <a:solidFill>
            <a:srgbClr val="E8D6F7"/>
          </a:solidFill>
          <a:ln>
            <a:solidFill>
              <a:srgbClr val="85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600200"/>
            <a:ext cx="73152" cy="4114800"/>
          </a:xfrm>
          <a:prstGeom prst="rect">
            <a:avLst/>
          </a:prstGeom>
          <a:solidFill>
            <a:srgbClr val="56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764792"/>
            <a:ext cx="29718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C"/>
                </a:solidFill>
              </a:defRPr>
            </a:pPr>
            <a:r>
              <a:rPr>
                <a:solidFill>
                  <a:srgbClr val="37204B"/>
                </a:solidFill>
              </a:rPr>
              <a:t>Target</a:t>
            </a:r>
          </a:p>
          <a:p>
            <a:pPr>
              <a:spcBef>
                <a:spcPts val="800"/>
              </a:spcBef>
              <a:defRPr sz="1200">
                <a:solidFill>
                  <a:srgbClr val="D7E1EE"/>
                </a:solidFill>
              </a:defRPr>
            </a:pPr>
            <a:r>
              <a:rPr>
                <a:solidFill>
                  <a:srgbClr val="37204B"/>
                </a:solidFill>
              </a:rPr>
              <a:t>Churn</a:t>
            </a:r>
            <a:br/>
            <a:br/>
            <a:r>
              <a:rPr>
                <a:solidFill>
                  <a:srgbClr val="37204B"/>
                </a:solidFill>
              </a:rPr>
              <a:t>The dataset contains customer and service-related variables used for churn analysis and prediction.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2823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6B5C9"/>
                </a:solidFill>
              </a:defRPr>
            </a:pPr>
            <a:r>
              <a:rPr>
                <a:solidFill>
                  <a:srgbClr val="37204B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E8D6F7"/>
          </a:solidFill>
          <a:ln>
            <a:solidFill>
              <a:srgbClr val="85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5303520"/>
            <a:ext cx="3291840" cy="3291840"/>
          </a:xfrm>
          <a:prstGeom prst="ellipse">
            <a:avLst/>
          </a:prstGeom>
          <a:solidFill>
            <a:srgbClr val="E8D6F7"/>
          </a:solidFill>
          <a:ln>
            <a:solidFill>
              <a:srgbClr val="85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7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rPr>
                <a:solidFill>
                  <a:srgbClr val="37204B"/>
                </a:solidFill>
              </a:rPr>
              <a:t>Data Preprocessing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>
                <a:solidFill>
                  <a:srgbClr val="37204B"/>
                </a:solidFill>
              </a:rPr>
              <a:t>• Customer and service-related fields are prepared for modeling.</a:t>
            </a:r>
          </a:p>
          <a:p>
            <a:pPr>
              <a:spcAft>
                <a:spcPts val="14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>
                <a:solidFill>
                  <a:srgbClr val="37204B"/>
                </a:solidFill>
              </a:rPr>
              <a:t>• The project checks the dataset columns and data quality.</a:t>
            </a:r>
          </a:p>
          <a:p>
            <a:pPr>
              <a:spcAft>
                <a:spcPts val="14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>
                <a:solidFill>
                  <a:srgbClr val="37204B"/>
                </a:solidFill>
              </a:rPr>
              <a:t>• The selected categorical and numerical inputs are transformed into model-ready values.</a:t>
            </a:r>
          </a:p>
          <a:p>
            <a:pPr>
              <a:spcAft>
                <a:spcPts val="14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>
                <a:solidFill>
                  <a:srgbClr val="37204B"/>
                </a:solidFill>
              </a:rPr>
              <a:t>• Processed features are supplied to the classification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2823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6B5C9"/>
                </a:solidFill>
              </a:defRPr>
            </a:pPr>
            <a:r>
              <a:rPr>
                <a:solidFill>
                  <a:srgbClr val="37204B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E8D6F7"/>
          </a:solidFill>
          <a:ln>
            <a:solidFill>
              <a:srgbClr val="85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5303520"/>
            <a:ext cx="3291840" cy="3291840"/>
          </a:xfrm>
          <a:prstGeom prst="ellipse">
            <a:avLst/>
          </a:prstGeom>
          <a:solidFill>
            <a:srgbClr val="E8D6F7"/>
          </a:solidFill>
          <a:ln>
            <a:solidFill>
              <a:srgbClr val="85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7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rPr>
                <a:solidFill>
                  <a:srgbClr val="37204B"/>
                </a:solidFill>
              </a:rPr>
              <a:t>Project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77440"/>
            <a:ext cx="1325880" cy="1143000"/>
          </a:xfrm>
          <a:prstGeom prst="roundRect">
            <a:avLst/>
          </a:prstGeom>
          <a:solidFill>
            <a:srgbClr val="E8D6F7"/>
          </a:solidFill>
          <a:ln>
            <a:solidFill>
              <a:srgbClr val="85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C"/>
                </a:solidFill>
              </a:defRPr>
            </a:pPr>
            <a:r>
              <a:rPr>
                <a:solidFill>
                  <a:srgbClr val="37204B"/>
                </a:solidFill>
              </a:rPr>
              <a:t>Data</a:t>
            </a:r>
            <a:br/>
            <a:r>
              <a:rPr>
                <a:solidFill>
                  <a:srgbClr val="37204B"/>
                </a:solidFill>
              </a:rPr>
              <a:t>Collection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856232" y="2761488"/>
            <a:ext cx="256032" cy="320040"/>
          </a:xfrm>
          <a:prstGeom prst="rightArrow">
            <a:avLst/>
          </a:prstGeom>
          <a:solidFill>
            <a:srgbClr val="56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148840" y="2377440"/>
            <a:ext cx="1325880" cy="1143000"/>
          </a:xfrm>
          <a:prstGeom prst="roundRect">
            <a:avLst/>
          </a:prstGeom>
          <a:solidFill>
            <a:srgbClr val="E8D6F7"/>
          </a:solidFill>
          <a:ln>
            <a:solidFill>
              <a:srgbClr val="85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C"/>
                </a:solidFill>
              </a:defRPr>
            </a:pPr>
            <a:r>
              <a:rPr>
                <a:solidFill>
                  <a:srgbClr val="37204B"/>
                </a:solidFill>
              </a:rPr>
              <a:t>Cleaning &amp;</a:t>
            </a:r>
            <a:br/>
            <a:r>
              <a:rPr>
                <a:solidFill>
                  <a:srgbClr val="37204B"/>
                </a:solidFill>
              </a:rPr>
              <a:t>Preprocessing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502152" y="2761488"/>
            <a:ext cx="256032" cy="320040"/>
          </a:xfrm>
          <a:prstGeom prst="rightArrow">
            <a:avLst/>
          </a:prstGeom>
          <a:solidFill>
            <a:srgbClr val="56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94760" y="2377440"/>
            <a:ext cx="1325880" cy="1143000"/>
          </a:xfrm>
          <a:prstGeom prst="roundRect">
            <a:avLst/>
          </a:prstGeom>
          <a:solidFill>
            <a:srgbClr val="E8D6F7"/>
          </a:solidFill>
          <a:ln>
            <a:solidFill>
              <a:srgbClr val="85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C"/>
                </a:solidFill>
              </a:defRPr>
            </a:pPr>
            <a:r>
              <a:rPr>
                <a:solidFill>
                  <a:srgbClr val="37204B"/>
                </a:solidFill>
              </a:rPr>
              <a:t>Exploratory</a:t>
            </a:r>
            <a:br/>
            <a:r>
              <a:rPr>
                <a:solidFill>
                  <a:srgbClr val="37204B"/>
                </a:solidFill>
              </a:rPr>
              <a:t>Analysis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148072" y="2761488"/>
            <a:ext cx="256032" cy="320040"/>
          </a:xfrm>
          <a:prstGeom prst="rightArrow">
            <a:avLst/>
          </a:prstGeom>
          <a:solidFill>
            <a:srgbClr val="56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0680" y="2377440"/>
            <a:ext cx="1325880" cy="1143000"/>
          </a:xfrm>
          <a:prstGeom prst="roundRect">
            <a:avLst/>
          </a:prstGeom>
          <a:solidFill>
            <a:srgbClr val="E8D6F7"/>
          </a:solidFill>
          <a:ln>
            <a:solidFill>
              <a:srgbClr val="85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C"/>
                </a:solidFill>
              </a:defRPr>
            </a:pPr>
            <a:r>
              <a:rPr>
                <a:solidFill>
                  <a:srgbClr val="37204B"/>
                </a:solidFill>
              </a:rPr>
              <a:t>Feature</a:t>
            </a:r>
            <a:br/>
            <a:r>
              <a:rPr>
                <a:solidFill>
                  <a:srgbClr val="37204B"/>
                </a:solidFill>
              </a:rPr>
              <a:t>Preparation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793992" y="2761488"/>
            <a:ext cx="256032" cy="320040"/>
          </a:xfrm>
          <a:prstGeom prst="rightArrow">
            <a:avLst/>
          </a:prstGeom>
          <a:solidFill>
            <a:srgbClr val="56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086600" y="2377440"/>
            <a:ext cx="1325880" cy="1143000"/>
          </a:xfrm>
          <a:prstGeom prst="roundRect">
            <a:avLst/>
          </a:prstGeom>
          <a:solidFill>
            <a:srgbClr val="E8D6F7"/>
          </a:solidFill>
          <a:ln>
            <a:solidFill>
              <a:srgbClr val="85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C"/>
                </a:solidFill>
              </a:defRPr>
            </a:pPr>
            <a:r>
              <a:rPr>
                <a:solidFill>
                  <a:srgbClr val="37204B"/>
                </a:solidFill>
              </a:rPr>
              <a:t>ML Model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439912" y="2761488"/>
            <a:ext cx="256032" cy="320040"/>
          </a:xfrm>
          <a:prstGeom prst="rightArrow">
            <a:avLst/>
          </a:prstGeom>
          <a:solidFill>
            <a:srgbClr val="56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32520" y="2377440"/>
            <a:ext cx="1325880" cy="1143000"/>
          </a:xfrm>
          <a:prstGeom prst="roundRect">
            <a:avLst/>
          </a:prstGeom>
          <a:solidFill>
            <a:srgbClr val="E8D6F7"/>
          </a:solidFill>
          <a:ln>
            <a:solidFill>
              <a:srgbClr val="85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C"/>
                </a:solidFill>
              </a:defRPr>
            </a:pPr>
            <a:r>
              <a:rPr>
                <a:solidFill>
                  <a:srgbClr val="37204B"/>
                </a:solidFill>
              </a:rPr>
              <a:t>Evaluation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0085832" y="2761488"/>
            <a:ext cx="256032" cy="320040"/>
          </a:xfrm>
          <a:prstGeom prst="rightArrow">
            <a:avLst/>
          </a:prstGeom>
          <a:solidFill>
            <a:srgbClr val="56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378440" y="2377440"/>
            <a:ext cx="1325880" cy="1143000"/>
          </a:xfrm>
          <a:prstGeom prst="roundRect">
            <a:avLst/>
          </a:prstGeom>
          <a:solidFill>
            <a:srgbClr val="E8D6F7"/>
          </a:solidFill>
          <a:ln>
            <a:solidFill>
              <a:srgbClr val="85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8FC"/>
                </a:solidFill>
              </a:defRPr>
            </a:pPr>
            <a:r>
              <a:rPr b="1">
                <a:solidFill>
                  <a:srgbClr val="673A87"/>
                </a:solidFill>
              </a:rPr>
              <a:t>Prediction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2823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6B5C9"/>
                </a:solidFill>
              </a:defRPr>
            </a:pPr>
            <a:r>
              <a:rPr>
                <a:solidFill>
                  <a:srgbClr val="37204B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E8D6F7"/>
          </a:solidFill>
          <a:ln>
            <a:solidFill>
              <a:srgbClr val="85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5303520"/>
            <a:ext cx="3291840" cy="3291840"/>
          </a:xfrm>
          <a:prstGeom prst="ellipse">
            <a:avLst/>
          </a:prstGeom>
          <a:solidFill>
            <a:srgbClr val="E8D6F7"/>
          </a:solidFill>
          <a:ln>
            <a:solidFill>
              <a:srgbClr val="85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7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rPr>
                <a:solidFill>
                  <a:srgbClr val="37204B"/>
                </a:solidFill>
              </a:rPr>
              <a:t>Machine Learning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4937760" cy="3474720"/>
          </a:xfrm>
          <a:prstGeom prst="roundRect">
            <a:avLst/>
          </a:prstGeom>
          <a:solidFill>
            <a:srgbClr val="E8D6F7"/>
          </a:solidFill>
          <a:ln>
            <a:solidFill>
              <a:srgbClr val="85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645920"/>
            <a:ext cx="73152" cy="3474720"/>
          </a:xfrm>
          <a:prstGeom prst="rect">
            <a:avLst/>
          </a:prstGeom>
          <a:solidFill>
            <a:srgbClr val="56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810512"/>
            <a:ext cx="45262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C"/>
                </a:solidFill>
              </a:defRPr>
            </a:pPr>
            <a:r>
              <a:rPr>
                <a:solidFill>
                  <a:srgbClr val="37204B"/>
                </a:solidFill>
              </a:rPr>
              <a:t>Classification Approach</a:t>
            </a:r>
          </a:p>
          <a:p>
            <a:pPr>
              <a:spcBef>
                <a:spcPts val="800"/>
              </a:spcBef>
              <a:defRPr sz="1200">
                <a:solidFill>
                  <a:srgbClr val="D7E1EE"/>
                </a:solidFill>
              </a:defRPr>
            </a:pPr>
            <a:r>
              <a:rPr>
                <a:solidFill>
                  <a:srgbClr val="37204B"/>
                </a:solidFill>
              </a:rPr>
              <a:t>A classification-based Machine Learning approach is used to predict customer churn.</a:t>
            </a:r>
            <a:br/>
            <a:br/>
            <a:r>
              <a:rPr>
                <a:solidFill>
                  <a:srgbClr val="37204B"/>
                </a:solidFill>
              </a:rPr>
              <a:t>The trained model receives processed customer features and produces a churn prediction.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4937760" cy="3474720"/>
          </a:xfrm>
          <a:prstGeom prst="roundRect">
            <a:avLst/>
          </a:prstGeom>
          <a:solidFill>
            <a:srgbClr val="E8D6F7"/>
          </a:solidFill>
          <a:ln>
            <a:solidFill>
              <a:srgbClr val="85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645920"/>
            <a:ext cx="73152" cy="3474720"/>
          </a:xfrm>
          <a:prstGeom prst="rect">
            <a:avLst/>
          </a:prstGeom>
          <a:solidFill>
            <a:srgbClr val="216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810512"/>
            <a:ext cx="45262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C"/>
                </a:solidFill>
              </a:defRPr>
            </a:pPr>
            <a:r>
              <a:rPr>
                <a:solidFill>
                  <a:srgbClr val="37204B"/>
                </a:solidFill>
              </a:rPr>
              <a:t>Prediction Inputs</a:t>
            </a:r>
          </a:p>
          <a:p>
            <a:pPr>
              <a:spcBef>
                <a:spcPts val="800"/>
              </a:spcBef>
              <a:defRPr sz="1200">
                <a:solidFill>
                  <a:srgbClr val="D7E1EE"/>
                </a:solidFill>
              </a:defRPr>
            </a:pPr>
            <a:r>
              <a:rPr>
                <a:solidFill>
                  <a:srgbClr val="37204B"/>
                </a:solidFill>
              </a:rPr>
              <a:t>Contract Type</a:t>
            </a:r>
            <a:br/>
            <a:r>
              <a:rPr>
                <a:solidFill>
                  <a:srgbClr val="37204B"/>
                </a:solidFill>
              </a:rPr>
              <a:t>Internet Service</a:t>
            </a:r>
            <a:br/>
            <a:r>
              <a:rPr>
                <a:solidFill>
                  <a:srgbClr val="37204B"/>
                </a:solidFill>
              </a:rPr>
              <a:t>Payment Method</a:t>
            </a:r>
            <a:br/>
            <a:r>
              <a:rPr>
                <a:solidFill>
                  <a:srgbClr val="37204B"/>
                </a:solidFill>
              </a:rPr>
              <a:t>Tenure (Months)</a:t>
            </a:r>
            <a:br/>
            <a:r>
              <a:rPr>
                <a:solidFill>
                  <a:srgbClr val="37204B"/>
                </a:solidFill>
              </a:rPr>
              <a:t>Monthly Charges</a:t>
            </a:r>
            <a:br/>
            <a:r>
              <a:rPr>
                <a:solidFill>
                  <a:srgbClr val="37204B"/>
                </a:solidFill>
              </a:rPr>
              <a:t>Total Charges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2823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6B5C9"/>
                </a:solidFill>
              </a:defRPr>
            </a:pPr>
            <a:r>
              <a:rPr>
                <a:solidFill>
                  <a:srgbClr val="37204B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E8D6F7"/>
          </a:solidFill>
          <a:ln>
            <a:solidFill>
              <a:srgbClr val="85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5303520"/>
            <a:ext cx="3291840" cy="3291840"/>
          </a:xfrm>
          <a:prstGeom prst="ellipse">
            <a:avLst/>
          </a:prstGeom>
          <a:solidFill>
            <a:srgbClr val="E8D6F7"/>
          </a:solidFill>
          <a:ln>
            <a:solidFill>
              <a:srgbClr val="85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7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rPr>
                <a:solidFill>
                  <a:srgbClr val="37204B"/>
                </a:solidFill>
              </a:rPr>
              <a:t>Model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114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36B8D2"/>
                </a:solidFill>
              </a:defRPr>
            </a:pPr>
            <a:r>
              <a:rPr>
                <a:solidFill>
                  <a:srgbClr val="37204B"/>
                </a:solidFill>
              </a:rPr>
              <a:t>74%</a:t>
            </a:r>
          </a:p>
          <a:p>
            <a:pPr algn="ctr">
              <a:defRPr sz="2000">
                <a:solidFill>
                  <a:srgbClr val="F5F8FC"/>
                </a:solidFill>
              </a:defRPr>
            </a:pPr>
            <a:r>
              <a:rPr>
                <a:solidFill>
                  <a:srgbClr val="37204B"/>
                </a:solidFill>
              </a:rPr>
              <a:t>Accuracy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600200"/>
            <a:ext cx="5577840" cy="3383280"/>
          </a:xfrm>
          <a:prstGeom prst="roundRect">
            <a:avLst/>
          </a:prstGeom>
          <a:solidFill>
            <a:srgbClr val="E8D6F7"/>
          </a:solidFill>
          <a:ln>
            <a:solidFill>
              <a:srgbClr val="85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600200"/>
            <a:ext cx="73152" cy="3383280"/>
          </a:xfrm>
          <a:prstGeom prst="rect">
            <a:avLst/>
          </a:prstGeom>
          <a:solidFill>
            <a:srgbClr val="216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32120" y="1764792"/>
            <a:ext cx="5166359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C"/>
                </a:solidFill>
              </a:defRPr>
            </a:pPr>
            <a:r>
              <a:rPr>
                <a:solidFill>
                  <a:srgbClr val="37204B"/>
                </a:solidFill>
              </a:rPr>
              <a:t>Classification Report</a:t>
            </a:r>
          </a:p>
          <a:p>
            <a:pPr>
              <a:spcBef>
                <a:spcPts val="800"/>
              </a:spcBef>
              <a:defRPr sz="1200">
                <a:solidFill>
                  <a:srgbClr val="D7E1EE"/>
                </a:solidFill>
              </a:defRPr>
            </a:pPr>
            <a:r>
              <a:rPr>
                <a:solidFill>
                  <a:srgbClr val="37204B"/>
                </a:solidFill>
              </a:rPr>
              <a:t>Class 0: Precision 0.74 | Recall 1.00 | F1 0.85</a:t>
            </a:r>
            <a:br/>
            <a:r>
              <a:rPr>
                <a:solidFill>
                  <a:srgbClr val="37204B"/>
                </a:solidFill>
              </a:rPr>
              <a:t>Class 1: Precision 0.00 | Recall 0.00 | F1 0.00</a:t>
            </a:r>
            <a:br/>
            <a:br/>
            <a:r>
              <a:rPr>
                <a:solidFill>
                  <a:srgbClr val="37204B"/>
                </a:solidFill>
              </a:rPr>
              <a:t>The project evaluates the model using class-level precision, recall and F1-score in addition to accuracy.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2823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6B5C9"/>
                </a:solidFill>
              </a:defRPr>
            </a:pPr>
            <a:r>
              <a:rPr>
                <a:solidFill>
                  <a:srgbClr val="37204B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E8D6F7"/>
          </a:solidFill>
          <a:ln>
            <a:solidFill>
              <a:srgbClr val="85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5303520"/>
            <a:ext cx="3291840" cy="3291840"/>
          </a:xfrm>
          <a:prstGeom prst="ellipse">
            <a:avLst/>
          </a:prstGeom>
          <a:solidFill>
            <a:srgbClr val="E8D6F7"/>
          </a:solidFill>
          <a:ln>
            <a:solidFill>
              <a:srgbClr val="85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7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rPr>
                <a:solidFill>
                  <a:srgbClr val="37204B"/>
                </a:solidFill>
              </a:rPr>
              <a:t>Feature Importance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>
                <a:solidFill>
                  <a:srgbClr val="37204B"/>
                </a:solidFill>
              </a:rPr>
              <a:t>• The project specifically analyzes feature importance to investigate why customers churn.</a:t>
            </a:r>
          </a:p>
          <a:p>
            <a:pPr>
              <a:spcAft>
                <a:spcPts val="14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>
                <a:solidFill>
                  <a:srgbClr val="37204B"/>
                </a:solidFill>
              </a:rPr>
              <a:t>• Model coefficients are examined to understand the contribution of input features.</a:t>
            </a:r>
          </a:p>
          <a:p>
            <a:pPr>
              <a:spcAft>
                <a:spcPts val="14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>
                <a:solidFill>
                  <a:srgbClr val="37204B"/>
                </a:solidFill>
              </a:rPr>
              <a:t>• This analysis can help identify customer characteristics that may require attention.</a:t>
            </a:r>
          </a:p>
          <a:p>
            <a:pPr>
              <a:spcAft>
                <a:spcPts val="14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>
                <a:solidFill>
                  <a:srgbClr val="37204B"/>
                </a:solidFill>
              </a:rPr>
              <a:t>• Feature analysis supports more targeted customer-retention strategies.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2823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6B5C9"/>
                </a:solidFill>
              </a:defRPr>
            </a:pPr>
            <a:r>
              <a:rPr>
                <a:solidFill>
                  <a:srgbClr val="37204B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E8D6F7"/>
          </a:solidFill>
          <a:ln>
            <a:solidFill>
              <a:srgbClr val="85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5303520"/>
            <a:ext cx="3291840" cy="3291840"/>
          </a:xfrm>
          <a:prstGeom prst="ellipse">
            <a:avLst/>
          </a:prstGeom>
          <a:solidFill>
            <a:srgbClr val="E8D6F7"/>
          </a:solidFill>
          <a:ln>
            <a:solidFill>
              <a:srgbClr val="85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7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rPr>
                <a:solidFill>
                  <a:srgbClr val="37204B"/>
                </a:solidFill>
              </a:rPr>
              <a:t>New Customer Prediction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4663440" cy="4023360"/>
          </a:xfrm>
          <a:prstGeom prst="roundRect">
            <a:avLst/>
          </a:prstGeom>
          <a:solidFill>
            <a:srgbClr val="E8D6F7"/>
          </a:solidFill>
          <a:ln>
            <a:solidFill>
              <a:srgbClr val="85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73152" cy="4023360"/>
          </a:xfrm>
          <a:prstGeom prst="rect">
            <a:avLst/>
          </a:prstGeom>
          <a:solidFill>
            <a:srgbClr val="56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19072"/>
            <a:ext cx="4251959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C"/>
                </a:solidFill>
              </a:defRPr>
            </a:pPr>
            <a:r>
              <a:rPr>
                <a:solidFill>
                  <a:srgbClr val="37204B"/>
                </a:solidFill>
              </a:rPr>
              <a:t>Example Input</a:t>
            </a:r>
          </a:p>
          <a:p>
            <a:pPr>
              <a:spcBef>
                <a:spcPts val="800"/>
              </a:spcBef>
              <a:defRPr sz="1200">
                <a:solidFill>
                  <a:srgbClr val="D7E1EE"/>
                </a:solidFill>
              </a:defRPr>
            </a:pPr>
            <a:r>
              <a:rPr>
                <a:solidFill>
                  <a:srgbClr val="37204B"/>
                </a:solidFill>
              </a:rPr>
              <a:t>Contract_Type = 1</a:t>
            </a:r>
            <a:br/>
            <a:r>
              <a:rPr>
                <a:solidFill>
                  <a:srgbClr val="37204B"/>
                </a:solidFill>
              </a:rPr>
              <a:t>Internet_Service = 1</a:t>
            </a:r>
            <a:br/>
            <a:r>
              <a:rPr>
                <a:solidFill>
                  <a:srgbClr val="37204B"/>
                </a:solidFill>
              </a:rPr>
              <a:t>Payment_Method = 3</a:t>
            </a:r>
            <a:br/>
            <a:r>
              <a:rPr>
                <a:solidFill>
                  <a:srgbClr val="37204B"/>
                </a:solidFill>
              </a:rPr>
              <a:t>Tenure_Months = 0.8</a:t>
            </a:r>
            <a:br/>
            <a:r>
              <a:rPr>
                <a:solidFill>
                  <a:srgbClr val="37204B"/>
                </a:solidFill>
              </a:rPr>
              <a:t>Monthly_Charges = 0.7</a:t>
            </a:r>
            <a:br/>
            <a:r>
              <a:rPr>
                <a:solidFill>
                  <a:srgbClr val="37204B"/>
                </a:solidFill>
              </a:rPr>
              <a:t>Total_Charges = 0.8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0" y="1554480"/>
            <a:ext cx="5394960" cy="4023360"/>
          </a:xfrm>
          <a:prstGeom prst="roundRect">
            <a:avLst/>
          </a:prstGeom>
          <a:solidFill>
            <a:srgbClr val="E8D6F7"/>
          </a:solidFill>
          <a:ln>
            <a:solidFill>
              <a:srgbClr val="85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0" y="1554480"/>
            <a:ext cx="73152" cy="4023360"/>
          </a:xfrm>
          <a:prstGeom prst="rect">
            <a:avLst/>
          </a:prstGeom>
          <a:solidFill>
            <a:srgbClr val="216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1719072"/>
            <a:ext cx="4983480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C"/>
                </a:solidFill>
              </a:defRPr>
            </a:pPr>
            <a:r>
              <a:rPr>
                <a:solidFill>
                  <a:srgbClr val="37204B"/>
                </a:solidFill>
              </a:rPr>
              <a:t>Model Output</a:t>
            </a:r>
          </a:p>
          <a:p>
            <a:pPr>
              <a:spcBef>
                <a:spcPts val="800"/>
              </a:spcBef>
              <a:defRPr sz="1200">
                <a:solidFill>
                  <a:srgbClr val="D7E1EE"/>
                </a:solidFill>
              </a:defRPr>
            </a:pPr>
            <a:r>
              <a:rPr>
                <a:solidFill>
                  <a:srgbClr val="37204B"/>
                </a:solidFill>
              </a:rPr>
              <a:t>The trained model is used to predict churn for the new customer.</a:t>
            </a:r>
            <a:br/>
            <a:br/>
            <a:r>
              <a:rPr>
                <a:solidFill>
                  <a:srgbClr val="37204B"/>
                </a:solidFill>
              </a:rPr>
              <a:t>Recorded project output:</a:t>
            </a:r>
            <a:br/>
            <a:br/>
            <a:r>
              <a:rPr>
                <a:solidFill>
                  <a:srgbClr val="37204B"/>
                </a:solidFill>
              </a:rPr>
              <a:t>model Prediction: [0]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2823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6B5C9"/>
                </a:solidFill>
              </a:defRPr>
            </a:pPr>
            <a:r>
              <a:rPr>
                <a:solidFill>
                  <a:srgbClr val="37204B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E8D6F7"/>
          </a:solidFill>
          <a:ln>
            <a:solidFill>
              <a:srgbClr val="85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5303520"/>
            <a:ext cx="3291840" cy="3291840"/>
          </a:xfrm>
          <a:prstGeom prst="ellipse">
            <a:avLst/>
          </a:prstGeom>
          <a:solidFill>
            <a:srgbClr val="E8D6F7"/>
          </a:solidFill>
          <a:ln>
            <a:solidFill>
              <a:srgbClr val="85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7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rPr>
                <a:solidFill>
                  <a:srgbClr val="37204B"/>
                </a:solidFill>
              </a:rPr>
              <a:t>Key Results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337560" cy="1737360"/>
          </a:xfrm>
          <a:prstGeom prst="roundRect">
            <a:avLst/>
          </a:prstGeom>
          <a:solidFill>
            <a:srgbClr val="E8D6F7"/>
          </a:solidFill>
          <a:ln>
            <a:solidFill>
              <a:srgbClr val="85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73152" cy="1737360"/>
          </a:xfrm>
          <a:prstGeom prst="rect">
            <a:avLst/>
          </a:prstGeom>
          <a:solidFill>
            <a:srgbClr val="56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73351"/>
            <a:ext cx="2926079" cy="1463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C"/>
                </a:solidFill>
              </a:defRPr>
            </a:pPr>
            <a:r>
              <a:rPr>
                <a:solidFill>
                  <a:srgbClr val="37204B"/>
                </a:solidFill>
              </a:rPr>
              <a:t>End-to-End</a:t>
            </a:r>
          </a:p>
          <a:p>
            <a:pPr>
              <a:spcBef>
                <a:spcPts val="800"/>
              </a:spcBef>
              <a:defRPr sz="1200">
                <a:solidFill>
                  <a:srgbClr val="D7E1EE"/>
                </a:solidFill>
              </a:defRPr>
            </a:pPr>
            <a:r>
              <a:rPr>
                <a:solidFill>
                  <a:srgbClr val="37204B"/>
                </a:solidFill>
              </a:rPr>
              <a:t>Completed a customer churn prediction workflow.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508760"/>
            <a:ext cx="3337560" cy="1737360"/>
          </a:xfrm>
          <a:prstGeom prst="roundRect">
            <a:avLst/>
          </a:prstGeom>
          <a:solidFill>
            <a:srgbClr val="E8D6F7"/>
          </a:solidFill>
          <a:ln>
            <a:solidFill>
              <a:srgbClr val="85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508760"/>
            <a:ext cx="73152" cy="1737360"/>
          </a:xfrm>
          <a:prstGeom prst="rect">
            <a:avLst/>
          </a:prstGeom>
          <a:solidFill>
            <a:srgbClr val="216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673351"/>
            <a:ext cx="2926079" cy="1463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C"/>
                </a:solidFill>
              </a:defRPr>
            </a:pPr>
            <a:r>
              <a:rPr>
                <a:solidFill>
                  <a:srgbClr val="37204B"/>
                </a:solidFill>
              </a:rPr>
              <a:t>Model Performance</a:t>
            </a:r>
          </a:p>
          <a:p>
            <a:pPr>
              <a:spcBef>
                <a:spcPts val="800"/>
              </a:spcBef>
              <a:defRPr sz="1200">
                <a:solidFill>
                  <a:srgbClr val="D7E1EE"/>
                </a:solidFill>
              </a:defRPr>
            </a:pPr>
            <a:r>
              <a:rPr>
                <a:solidFill>
                  <a:srgbClr val="37204B"/>
                </a:solidFill>
              </a:rPr>
              <a:t>Approximately 74% overall accuracy was recorded.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508760"/>
            <a:ext cx="3337560" cy="1737360"/>
          </a:xfrm>
          <a:prstGeom prst="roundRect">
            <a:avLst/>
          </a:prstGeom>
          <a:solidFill>
            <a:srgbClr val="E8D6F7"/>
          </a:solidFill>
          <a:ln>
            <a:solidFill>
              <a:srgbClr val="85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75320" y="1508760"/>
            <a:ext cx="73152" cy="1737360"/>
          </a:xfrm>
          <a:prstGeom prst="rect">
            <a:avLst/>
          </a:prstGeom>
          <a:solidFill>
            <a:srgbClr val="56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673351"/>
            <a:ext cx="2926079" cy="1463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C"/>
                </a:solidFill>
              </a:defRPr>
            </a:pPr>
            <a:r>
              <a:rPr>
                <a:solidFill>
                  <a:srgbClr val="37204B"/>
                </a:solidFill>
              </a:rPr>
              <a:t>Evaluation</a:t>
            </a:r>
          </a:p>
          <a:p>
            <a:pPr>
              <a:spcBef>
                <a:spcPts val="800"/>
              </a:spcBef>
              <a:defRPr sz="1200">
                <a:solidFill>
                  <a:srgbClr val="D7E1EE"/>
                </a:solidFill>
              </a:defRPr>
            </a:pPr>
            <a:r>
              <a:rPr>
                <a:solidFill>
                  <a:srgbClr val="37204B"/>
                </a:solidFill>
              </a:rPr>
              <a:t>Precision, recall and F1-score were generated.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749039"/>
            <a:ext cx="3337560" cy="1737360"/>
          </a:xfrm>
          <a:prstGeom prst="roundRect">
            <a:avLst/>
          </a:prstGeom>
          <a:solidFill>
            <a:srgbClr val="E8D6F7"/>
          </a:solidFill>
          <a:ln>
            <a:solidFill>
              <a:srgbClr val="85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749039"/>
            <a:ext cx="73152" cy="1737360"/>
          </a:xfrm>
          <a:prstGeom prst="rect">
            <a:avLst/>
          </a:prstGeom>
          <a:solidFill>
            <a:srgbClr val="216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913631"/>
            <a:ext cx="2926079" cy="1463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C"/>
                </a:solidFill>
              </a:defRPr>
            </a:pPr>
            <a:r>
              <a:rPr>
                <a:solidFill>
                  <a:srgbClr val="37204B"/>
                </a:solidFill>
              </a:rPr>
              <a:t>Feature Analysis</a:t>
            </a:r>
          </a:p>
          <a:p>
            <a:pPr>
              <a:spcBef>
                <a:spcPts val="800"/>
              </a:spcBef>
              <a:defRPr sz="1200">
                <a:solidFill>
                  <a:srgbClr val="D7E1EE"/>
                </a:solidFill>
              </a:defRPr>
            </a:pPr>
            <a:r>
              <a:rPr>
                <a:solidFill>
                  <a:srgbClr val="37204B"/>
                </a:solidFill>
              </a:rPr>
              <a:t>Feature importance was examined.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3749039"/>
            <a:ext cx="3337560" cy="1737360"/>
          </a:xfrm>
          <a:prstGeom prst="roundRect">
            <a:avLst/>
          </a:prstGeom>
          <a:solidFill>
            <a:srgbClr val="E8D6F7"/>
          </a:solidFill>
          <a:ln>
            <a:solidFill>
              <a:srgbClr val="85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60" y="3749039"/>
            <a:ext cx="73152" cy="1737360"/>
          </a:xfrm>
          <a:prstGeom prst="rect">
            <a:avLst/>
          </a:prstGeom>
          <a:solidFill>
            <a:srgbClr val="563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60" y="3913631"/>
            <a:ext cx="2926079" cy="1463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C"/>
                </a:solidFill>
              </a:defRPr>
            </a:pPr>
            <a:r>
              <a:rPr>
                <a:solidFill>
                  <a:srgbClr val="37204B"/>
                </a:solidFill>
              </a:rPr>
              <a:t>Prediction</a:t>
            </a:r>
          </a:p>
          <a:p>
            <a:pPr>
              <a:spcBef>
                <a:spcPts val="800"/>
              </a:spcBef>
              <a:defRPr sz="1200">
                <a:solidFill>
                  <a:srgbClr val="D7E1EE"/>
                </a:solidFill>
              </a:defRPr>
            </a:pPr>
            <a:r>
              <a:rPr>
                <a:solidFill>
                  <a:srgbClr val="37204B"/>
                </a:solidFill>
              </a:rPr>
              <a:t>The model can predict churn for new customer data.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2823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6B5C9"/>
                </a:solidFill>
              </a:defRPr>
            </a:pPr>
            <a:r>
              <a:rPr>
                <a:solidFill>
                  <a:srgbClr val="37204B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E8D6F7"/>
          </a:solidFill>
          <a:ln>
            <a:solidFill>
              <a:srgbClr val="85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5303520"/>
            <a:ext cx="3291840" cy="3291840"/>
          </a:xfrm>
          <a:prstGeom prst="ellipse">
            <a:avLst/>
          </a:prstGeom>
          <a:solidFill>
            <a:srgbClr val="E8D6F7"/>
          </a:solidFill>
          <a:ln>
            <a:solidFill>
              <a:srgbClr val="85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7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rPr>
                <a:solidFill>
                  <a:srgbClr val="37204B"/>
                </a:solidFill>
              </a:rPr>
              <a:t>Business Use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>
                <a:solidFill>
                  <a:srgbClr val="37204B"/>
                </a:solidFill>
              </a:rPr>
              <a:t>• Identify customers who may be at risk of leaving.</a:t>
            </a:r>
          </a:p>
          <a:p>
            <a:pPr>
              <a:spcAft>
                <a:spcPts val="14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>
                <a:solidFill>
                  <a:srgbClr val="37204B"/>
                </a:solidFill>
              </a:rPr>
              <a:t>• Support customer-retention activities.</a:t>
            </a:r>
          </a:p>
          <a:p>
            <a:pPr>
              <a:spcAft>
                <a:spcPts val="14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>
                <a:solidFill>
                  <a:srgbClr val="37204B"/>
                </a:solidFill>
              </a:rPr>
              <a:t>• Help businesses study customer and service characteristics linked with churn.</a:t>
            </a:r>
          </a:p>
          <a:p>
            <a:pPr>
              <a:spcAft>
                <a:spcPts val="14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>
                <a:solidFill>
                  <a:srgbClr val="37204B"/>
                </a:solidFill>
              </a:rPr>
              <a:t>• Enable more targeted retention strategies using data-driven insights.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2823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6B5C9"/>
                </a:solidFill>
              </a:defRPr>
            </a:pPr>
            <a:r>
              <a:rPr>
                <a:solidFill>
                  <a:srgbClr val="37204B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E8D6F7"/>
          </a:solidFill>
          <a:ln>
            <a:solidFill>
              <a:srgbClr val="85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5303520"/>
            <a:ext cx="3291840" cy="3291840"/>
          </a:xfrm>
          <a:prstGeom prst="ellipse">
            <a:avLst/>
          </a:prstGeom>
          <a:solidFill>
            <a:srgbClr val="E8D6F7"/>
          </a:solidFill>
          <a:ln>
            <a:solidFill>
              <a:srgbClr val="85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7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rPr>
                <a:solidFill>
                  <a:srgbClr val="37204B"/>
                </a:solidFill>
              </a:rPr>
              <a:t>Future Enhancements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rPr>
                <a:solidFill>
                  <a:srgbClr val="37204B"/>
                </a:solidFill>
              </a:rPr>
              <a:t>• Compare multiple Machine Learning classification algorithms.</a:t>
            </a:r>
          </a:p>
          <a:p>
            <a:pPr>
              <a:spcAft>
                <a:spcPts val="14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rPr>
                <a:solidFill>
                  <a:srgbClr val="37204B"/>
                </a:solidFill>
              </a:rPr>
              <a:t>• Address class imbalance using suitable techniques.</a:t>
            </a:r>
          </a:p>
          <a:p>
            <a:pPr>
              <a:spcAft>
                <a:spcPts val="14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rPr>
                <a:solidFill>
                  <a:srgbClr val="37204B"/>
                </a:solidFill>
              </a:rPr>
              <a:t>• Perform hyperparameter tuning.</a:t>
            </a:r>
          </a:p>
          <a:p>
            <a:pPr>
              <a:spcAft>
                <a:spcPts val="14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rPr>
                <a:solidFill>
                  <a:srgbClr val="37204B"/>
                </a:solidFill>
              </a:rPr>
              <a:t>• Evaluate the model using additional metrics such as ROC-AUC.</a:t>
            </a:r>
          </a:p>
          <a:p>
            <a:pPr>
              <a:spcAft>
                <a:spcPts val="14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rPr>
                <a:solidFill>
                  <a:srgbClr val="37204B"/>
                </a:solidFill>
              </a:rPr>
              <a:t>• Build an interactive churn-analysis dashboard.</a:t>
            </a:r>
          </a:p>
          <a:p>
            <a:pPr>
              <a:spcAft>
                <a:spcPts val="14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rPr>
                <a:solidFill>
                  <a:srgbClr val="37204B"/>
                </a:solidFill>
              </a:rPr>
              <a:t>• Deploy the model as a web application or API.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2823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6B5C9"/>
                </a:solidFill>
              </a:defRPr>
            </a:pPr>
            <a:r>
              <a:rPr>
                <a:solidFill>
                  <a:srgbClr val="37204B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E8D6F7"/>
          </a:solidFill>
          <a:ln>
            <a:solidFill>
              <a:srgbClr val="85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5303520"/>
            <a:ext cx="3291840" cy="3291840"/>
          </a:xfrm>
          <a:prstGeom prst="ellipse">
            <a:avLst/>
          </a:prstGeom>
          <a:solidFill>
            <a:srgbClr val="E8D6F7"/>
          </a:solidFill>
          <a:ln>
            <a:solidFill>
              <a:srgbClr val="85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7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6B8D2"/>
                </a:solidFill>
              </a:defRPr>
            </a:pPr>
            <a:r>
              <a:rPr b="1">
                <a:solidFill>
                  <a:srgbClr val="673A87"/>
                </a:solidFill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43200"/>
            <a:ext cx="102412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>
                <a:solidFill>
                  <a:srgbClr val="F5F8FC"/>
                </a:solidFill>
              </a:defRPr>
            </a:pPr>
            <a:r>
              <a:rPr>
                <a:solidFill>
                  <a:srgbClr val="37204B"/>
                </a:solidFill>
              </a:rPr>
              <a:t>Machine Learning can be applied to customer churn prediction by combining data preprocessing, customer-feature analysis, model evaluation and feature-importance analysis.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2823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6B5C9"/>
                </a:solidFill>
              </a:defRPr>
            </a:pPr>
            <a:r>
              <a:rPr>
                <a:solidFill>
                  <a:srgbClr val="37204B"/>
                </a:solidFill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